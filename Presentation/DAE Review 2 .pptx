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74" r:id="rId6"/>
    <p:sldId id="279" r:id="rId7"/>
    <p:sldId id="276" r:id="rId8"/>
    <p:sldId id="280" r:id="rId9"/>
    <p:sldId id="278" r:id="rId10"/>
    <p:sldId id="271" r:id="rId11"/>
    <p:sldId id="281" r:id="rId12"/>
    <p:sldId id="283" r:id="rId13"/>
    <p:sldId id="286" r:id="rId14"/>
    <p:sldId id="287" r:id="rId15"/>
    <p:sldId id="288" r:id="rId16"/>
    <p:sldId id="289" r:id="rId17"/>
    <p:sldId id="290" r:id="rId18"/>
    <p:sldId id="285" r:id="rId19"/>
    <p:sldId id="284" r:id="rId20"/>
    <p:sldId id="268" r:id="rId21"/>
    <p:sldId id="269" r:id="rId22"/>
  </p:sldIdLst>
  <p:sldSz cx="10058400" cy="7772400"/>
  <p:notesSz cx="10058400" cy="7772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 userDrawn="1">
          <p15:clr>
            <a:srgbClr val="A4A3A4"/>
          </p15:clr>
        </p15:guide>
        <p15:guide id="2" pos="216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621" autoAdjust="0"/>
    <p:restoredTop sz="94660"/>
  </p:normalViewPr>
  <p:slideViewPr>
    <p:cSldViewPr showGuides="1">
      <p:cViewPr varScale="1">
        <p:scale>
          <a:sx n="78" d="100"/>
          <a:sy n="78" d="100"/>
        </p:scale>
        <p:origin x="1878" y="85"/>
      </p:cViewPr>
      <p:guideLst>
        <p:guide orient="horz" pos="2880"/>
        <p:guide pos="2162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359275" cy="3889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697538" y="0"/>
            <a:ext cx="4359275" cy="3889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B419B0A-DB98-47ED-A0D2-B47FD394FE07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332163" y="971550"/>
            <a:ext cx="3394075" cy="26225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006475" y="3740150"/>
            <a:ext cx="8045450" cy="30607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7383463"/>
            <a:ext cx="4359275" cy="3889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697538" y="7383463"/>
            <a:ext cx="4359275" cy="3889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E471F2-2083-493A-8C9E-53209FFA1EC8}" type="slidenum">
              <a:rPr lang="en-IN" smtClean="0"/>
              <a:t>‹#›</a:t>
            </a:fld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E471F2-2083-493A-8C9E-53209FFA1EC8}" type="slidenum">
              <a:rPr lang="en-IN" smtClean="0"/>
              <a:t>9</a:t>
            </a:fld>
            <a:endParaRPr lang="en-IN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E471F2-2083-493A-8C9E-53209FFA1EC8}" type="slidenum">
              <a:rPr lang="en-IN" smtClean="0"/>
              <a:t>10</a:t>
            </a:fld>
            <a:endParaRPr lang="en-IN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E471F2-2083-493A-8C9E-53209FFA1EC8}" type="slidenum">
              <a:rPr lang="en-IN" smtClean="0"/>
              <a:t>11</a:t>
            </a:fld>
            <a:endParaRPr lang="en-IN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754380" y="2409444"/>
            <a:ext cx="8549640" cy="163220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300" b="1" i="0">
                <a:solidFill>
                  <a:srgbClr val="375F92"/>
                </a:solidFill>
                <a:latin typeface="Palatino Linotype" panose="02040502050505030304"/>
                <a:cs typeface="Palatino Linotype" panose="02040502050505030304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508760" y="4352544"/>
            <a:ext cx="7040880" cy="19431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50" b="1" i="0">
                <a:solidFill>
                  <a:schemeClr val="tx1"/>
                </a:solidFill>
                <a:latin typeface="Palatino Linotype" panose="02040502050505030304"/>
                <a:cs typeface="Palatino Linotype" panose="02040502050505030304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9/30/2026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300" b="1" i="0">
                <a:solidFill>
                  <a:srgbClr val="375F92"/>
                </a:solidFill>
                <a:latin typeface="Palatino Linotype" panose="02040502050505030304"/>
                <a:cs typeface="Palatino Linotype" panose="02040502050505030304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950" b="1" i="0">
                <a:solidFill>
                  <a:schemeClr val="tx1"/>
                </a:solidFill>
                <a:latin typeface="Palatino Linotype" panose="02040502050505030304"/>
                <a:cs typeface="Palatino Linotype" panose="02040502050505030304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9/30/2026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300" b="1" i="0">
                <a:solidFill>
                  <a:srgbClr val="375F92"/>
                </a:solidFill>
                <a:latin typeface="Palatino Linotype" panose="02040502050505030304"/>
                <a:cs typeface="Palatino Linotype" panose="02040502050505030304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502920" y="1787652"/>
            <a:ext cx="4375404" cy="512978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5180076" y="1787652"/>
            <a:ext cx="4375404" cy="512978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9/30/2026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300" b="1" i="0">
                <a:solidFill>
                  <a:srgbClr val="375F92"/>
                </a:solidFill>
                <a:latin typeface="Palatino Linotype" panose="02040502050505030304"/>
                <a:cs typeface="Palatino Linotype" panose="02040502050505030304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9/30/2026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648056" y="258722"/>
            <a:ext cx="4601366" cy="704793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530316" y="125730"/>
            <a:ext cx="4997767" cy="1045130"/>
          </a:xfrm>
          <a:prstGeom prst="rect">
            <a:avLst/>
          </a:prstGeom>
        </p:spPr>
      </p:pic>
      <p:pic>
        <p:nvPicPr>
          <p:cNvPr id="18" name="bg object 1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663904" y="251407"/>
            <a:ext cx="4577410" cy="506849"/>
          </a:xfrm>
          <a:prstGeom prst="rect">
            <a:avLst/>
          </a:prstGeom>
        </p:spPr>
      </p:pic>
      <p:sp>
        <p:nvSpPr>
          <p:cNvPr id="19" name="bg object 19"/>
          <p:cNvSpPr/>
          <p:nvPr/>
        </p:nvSpPr>
        <p:spPr>
          <a:xfrm>
            <a:off x="2718911" y="290750"/>
            <a:ext cx="4471670" cy="400685"/>
          </a:xfrm>
          <a:custGeom>
            <a:avLst/>
            <a:gdLst/>
            <a:ahLst/>
            <a:cxnLst/>
            <a:rect l="l" t="t" r="r" b="b"/>
            <a:pathLst>
              <a:path w="4471670" h="400684">
                <a:moveTo>
                  <a:pt x="4386510" y="0"/>
                </a:moveTo>
                <a:lnTo>
                  <a:pt x="84762" y="0"/>
                </a:lnTo>
                <a:lnTo>
                  <a:pt x="51758" y="5238"/>
                </a:lnTo>
                <a:lnTo>
                  <a:pt x="24831" y="19592"/>
                </a:lnTo>
                <a:lnTo>
                  <a:pt x="6705" y="40757"/>
                </a:lnTo>
                <a:lnTo>
                  <a:pt x="0" y="66741"/>
                </a:lnTo>
                <a:lnTo>
                  <a:pt x="0" y="333813"/>
                </a:lnTo>
                <a:lnTo>
                  <a:pt x="6705" y="359797"/>
                </a:lnTo>
                <a:lnTo>
                  <a:pt x="24831" y="381066"/>
                </a:lnTo>
                <a:lnTo>
                  <a:pt x="51758" y="395316"/>
                </a:lnTo>
                <a:lnTo>
                  <a:pt x="84762" y="400554"/>
                </a:lnTo>
                <a:lnTo>
                  <a:pt x="4386510" y="400554"/>
                </a:lnTo>
                <a:lnTo>
                  <a:pt x="4419514" y="395316"/>
                </a:lnTo>
                <a:lnTo>
                  <a:pt x="4446441" y="381066"/>
                </a:lnTo>
                <a:lnTo>
                  <a:pt x="4464567" y="359797"/>
                </a:lnTo>
                <a:lnTo>
                  <a:pt x="4471273" y="333813"/>
                </a:lnTo>
                <a:lnTo>
                  <a:pt x="4471273" y="66741"/>
                </a:lnTo>
                <a:lnTo>
                  <a:pt x="4464567" y="40757"/>
                </a:lnTo>
                <a:lnTo>
                  <a:pt x="4446441" y="19592"/>
                </a:lnTo>
                <a:lnTo>
                  <a:pt x="4419514" y="5238"/>
                </a:lnTo>
                <a:lnTo>
                  <a:pt x="4386510" y="0"/>
                </a:lnTo>
                <a:close/>
              </a:path>
            </a:pathLst>
          </a:custGeom>
          <a:solidFill>
            <a:srgbClr val="FF66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0" name="bg object 20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3292554" y="282840"/>
            <a:ext cx="3375117" cy="569714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9/30/2026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830970" y="881554"/>
            <a:ext cx="2528570" cy="37528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300" b="1" i="0">
                <a:solidFill>
                  <a:srgbClr val="375F92"/>
                </a:solidFill>
                <a:latin typeface="Palatino Linotype" panose="02040502050505030304"/>
                <a:cs typeface="Palatino Linotype" panose="02040502050505030304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21188" y="1409149"/>
            <a:ext cx="8949055" cy="329437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50" b="1" i="0">
                <a:solidFill>
                  <a:schemeClr val="tx1"/>
                </a:solidFill>
                <a:latin typeface="Palatino Linotype" panose="02040502050505030304"/>
                <a:cs typeface="Palatino Linotype" panose="02040502050505030304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419856" y="7228332"/>
            <a:ext cx="3218688" cy="3886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502920" y="7228332"/>
            <a:ext cx="2313432" cy="3886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9/30/2026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7242048" y="7228332"/>
            <a:ext cx="2313432" cy="3886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e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e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e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7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e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2.png"/><Relationship Id="rId9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eg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eg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eg"/><Relationship Id="rId5" Type="http://schemas.openxmlformats.org/officeDocument/2006/relationships/image" Target="../media/image14.png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6.jpeg"/><Relationship Id="rId4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6.jpeg"/><Relationship Id="rId4" Type="http://schemas.openxmlformats.org/officeDocument/2006/relationships/image" Target="../media/image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6.jpeg"/><Relationship Id="rId4" Type="http://schemas.openxmlformats.org/officeDocument/2006/relationships/image" Target="../media/image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6.jpeg"/><Relationship Id="rId4" Type="http://schemas.openxmlformats.org/officeDocument/2006/relationships/image" Target="../media/image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6.jpeg"/><Relationship Id="rId4" Type="http://schemas.openxmlformats.org/officeDocument/2006/relationships/image" Target="../media/image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eg"/><Relationship Id="rId4" Type="http://schemas.openxmlformats.org/officeDocument/2006/relationships/image" Target="../media/image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eg"/><Relationship Id="rId5" Type="http://schemas.openxmlformats.org/officeDocument/2006/relationships/image" Target="../media/image20.png"/><Relationship Id="rId4" Type="http://schemas.openxmlformats.org/officeDocument/2006/relationships/image" Target="../media/image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eg"/><Relationship Id="rId4" Type="http://schemas.openxmlformats.org/officeDocument/2006/relationships/image" Target="../media/image8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693969" y="211046"/>
            <a:ext cx="4610910" cy="62864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463040" y="1051560"/>
            <a:ext cx="7315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500" b="1">
                <a:solidFill>
                  <a:srgbClr val="233464"/>
                </a:solidFill>
                <a:latin typeface="Aptos"/>
              </a:defRPr>
            </a:pPr>
            <a:r>
              <a:rPr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Analysis Essentials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1508760"/>
            <a:ext cx="7315200" cy="446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300" b="1">
                <a:solidFill>
                  <a:srgbClr val="C25B30"/>
                </a:solidFill>
                <a:latin typeface="Aptos"/>
              </a:defRPr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Cornerstone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31720"/>
            <a:ext cx="87782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3000" b="1">
                <a:solidFill>
                  <a:srgbClr val="233464"/>
                </a:solidFill>
                <a:latin typeface="Aptos"/>
              </a:defRPr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Indian Paper Leaks Data 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Analysis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(2004-2026)</a:t>
            </a:r>
            <a:endParaRPr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51560" y="3657600"/>
            <a:ext cx="7955279" cy="23869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1400" b="0">
                <a:solidFill>
                  <a:srgbClr val="2D2D2D"/>
                </a:solidFill>
                <a:latin typeface="Aptos"/>
              </a:defRPr>
            </a:pPr>
            <a:r>
              <a:rPr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Presented by</a:t>
            </a:r>
          </a:p>
          <a:p>
            <a:pPr algn="ctr">
              <a:spcAft>
                <a:spcPts val="700"/>
              </a:spcAft>
              <a:defRPr sz="1400" b="0">
                <a:solidFill>
                  <a:srgbClr val="2D2D2D"/>
                </a:solidFill>
                <a:latin typeface="Aptos"/>
              </a:defRPr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 .Vedha Sri</a:t>
            </a:r>
            <a:r>
              <a:rPr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(2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5B11CS659</a:t>
            </a:r>
            <a:r>
              <a:rPr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algn="ctr">
              <a:spcAft>
                <a:spcPts val="700"/>
              </a:spcAft>
              <a:defRPr sz="1400" b="0">
                <a:solidFill>
                  <a:srgbClr val="2D2D2D"/>
                </a:solidFill>
                <a:latin typeface="Aptos"/>
              </a:defRPr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Md Aarish</a:t>
            </a:r>
            <a:r>
              <a:rPr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(2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5B11CS588</a:t>
            </a:r>
            <a:r>
              <a:rPr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algn="ctr">
              <a:spcAft>
                <a:spcPts val="700"/>
              </a:spcAft>
              <a:defRPr sz="1400" b="0">
                <a:solidFill>
                  <a:srgbClr val="2D2D2D"/>
                </a:solidFill>
                <a:latin typeface="Aptos"/>
              </a:defRPr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 .Harsha</a:t>
            </a:r>
            <a:r>
              <a:rPr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(2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5B11CS389</a:t>
            </a:r>
            <a:r>
              <a:rPr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algn="ctr">
              <a:spcAft>
                <a:spcPts val="700"/>
              </a:spcAft>
              <a:defRPr sz="1400" b="0">
                <a:solidFill>
                  <a:srgbClr val="2D2D2D"/>
                </a:solidFill>
                <a:latin typeface="Aptos"/>
              </a:defRPr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 .Rishita Bhargavi</a:t>
            </a:r>
            <a:r>
              <a:rPr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5B11CS987</a:t>
            </a:r>
            <a:r>
              <a:rPr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algn="ctr">
              <a:spcAft>
                <a:spcPts val="700"/>
              </a:spcAft>
              <a:defRPr sz="1400" b="0">
                <a:solidFill>
                  <a:srgbClr val="2D2D2D"/>
                </a:solidFill>
                <a:latin typeface="Aptos"/>
              </a:defRPr>
            </a:pPr>
            <a:r>
              <a:rPr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Guide: Mr. K. Ashok Teja, Assistant Professor, CSE Dept.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446520"/>
            <a:ext cx="82296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233464"/>
                </a:solidFill>
                <a:latin typeface="Aptos"/>
              </a:defRPr>
            </a:pPr>
            <a:r>
              <a:rPr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Computer Science and Engineering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grpSp>
        <p:nvGrpSpPr>
          <p:cNvPr id="5" name="object 3"/>
          <p:cNvGrpSpPr/>
          <p:nvPr/>
        </p:nvGrpSpPr>
        <p:grpSpPr>
          <a:xfrm>
            <a:off x="2438400" y="33670"/>
            <a:ext cx="5334000" cy="1198311"/>
            <a:chOff x="2648188" y="47148"/>
            <a:chExt cx="5103904" cy="1198311"/>
          </a:xfrm>
        </p:grpSpPr>
        <p:pic>
          <p:nvPicPr>
            <p:cNvPr id="6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7" name="object 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8" name="object 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9" name="object 7"/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2545080" y="269414"/>
            <a:ext cx="51206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Contents</a:t>
            </a:r>
            <a:endParaRPr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219200" y="1676400"/>
            <a:ext cx="7132320" cy="5052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  <a:defRPr sz="2000" b="0">
                <a:solidFill>
                  <a:srgbClr val="2D2D2D"/>
                </a:solidFill>
                <a:latin typeface="Aptos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Problem Understanding</a:t>
            </a:r>
          </a:p>
          <a:p>
            <a:pPr algn="l">
              <a:spcAft>
                <a:spcPts val="700"/>
              </a:spcAft>
              <a:defRPr sz="2000" b="0">
                <a:solidFill>
                  <a:srgbClr val="2D2D2D"/>
                </a:solidFill>
                <a:latin typeface="Aptos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Introduction</a:t>
            </a:r>
          </a:p>
          <a:p>
            <a:pPr algn="l">
              <a:spcAft>
                <a:spcPts val="700"/>
              </a:spcAft>
              <a:defRPr sz="2000" b="0">
                <a:solidFill>
                  <a:srgbClr val="2D2D2D"/>
                </a:solidFill>
                <a:latin typeface="Aptos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Current Approach &amp; Limitations</a:t>
            </a:r>
          </a:p>
          <a:p>
            <a:pPr algn="l">
              <a:spcAft>
                <a:spcPts val="700"/>
              </a:spcAft>
              <a:defRPr sz="2000" b="0">
                <a:solidFill>
                  <a:srgbClr val="2D2D2D"/>
                </a:solidFill>
                <a:latin typeface="Aptos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Proposed Approach</a:t>
            </a:r>
          </a:p>
          <a:p>
            <a:pPr algn="l">
              <a:spcAft>
                <a:spcPts val="700"/>
              </a:spcAft>
              <a:defRPr sz="2000" b="0">
                <a:solidFill>
                  <a:srgbClr val="2D2D2D"/>
                </a:solidFill>
                <a:latin typeface="Aptos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Dataset Description</a:t>
            </a:r>
          </a:p>
          <a:p>
            <a:pPr algn="l">
              <a:spcAft>
                <a:spcPts val="700"/>
              </a:spcAft>
              <a:defRPr sz="2000" b="0">
                <a:solidFill>
                  <a:srgbClr val="2D2D2D"/>
                </a:solidFill>
                <a:latin typeface="Aptos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Requirements</a:t>
            </a:r>
          </a:p>
          <a:p>
            <a:pPr algn="l">
              <a:spcAft>
                <a:spcPts val="700"/>
              </a:spcAft>
              <a:defRPr sz="2000" b="0">
                <a:solidFill>
                  <a:srgbClr val="2D2D2D"/>
                </a:solidFill>
                <a:latin typeface="Aptos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Methodology</a:t>
            </a:r>
          </a:p>
          <a:p>
            <a:pPr algn="l">
              <a:spcAft>
                <a:spcPts val="700"/>
              </a:spcAft>
              <a:defRPr sz="2000" b="0">
                <a:solidFill>
                  <a:srgbClr val="2D2D2D"/>
                </a:solidFill>
                <a:latin typeface="Aptos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Data Visualization</a:t>
            </a:r>
          </a:p>
          <a:p>
            <a:pPr algn="l">
              <a:spcAft>
                <a:spcPts val="700"/>
              </a:spcAft>
              <a:defRPr sz="2000" b="0">
                <a:solidFill>
                  <a:srgbClr val="2D2D2D"/>
                </a:solidFill>
                <a:latin typeface="Aptos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Key Insights &amp; Analysis</a:t>
            </a:r>
          </a:p>
          <a:p>
            <a:pPr algn="l">
              <a:spcAft>
                <a:spcPts val="700"/>
              </a:spcAft>
              <a:defRPr sz="2000" b="0">
                <a:solidFill>
                  <a:srgbClr val="2D2D2D"/>
                </a:solidFill>
                <a:latin typeface="Aptos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Implementation Workflow</a:t>
            </a:r>
          </a:p>
          <a:p>
            <a:pPr algn="l">
              <a:spcAft>
                <a:spcPts val="700"/>
              </a:spcAft>
              <a:defRPr sz="2000" b="0">
                <a:solidFill>
                  <a:srgbClr val="2D2D2D"/>
                </a:solidFill>
                <a:latin typeface="Aptos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Conclusion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/>
          <p:cNvGrpSpPr/>
          <p:nvPr/>
        </p:nvGrpSpPr>
        <p:grpSpPr>
          <a:xfrm>
            <a:off x="2667000" y="53695"/>
            <a:ext cx="5103904" cy="1198311"/>
            <a:chOff x="2648188" y="47148"/>
            <a:chExt cx="5103904" cy="1198311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pic>
        <p:nvPicPr>
          <p:cNvPr id="10" name="object 3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667000" y="304800"/>
            <a:ext cx="51206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 </a:t>
            </a:r>
            <a:r>
              <a:rPr lang="en-GB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STATEMENT</a:t>
            </a:r>
            <a:endParaRPr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09600" y="1524000"/>
            <a:ext cx="8686800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spcAft>
                <a:spcPts val="700"/>
              </a:spcAft>
              <a:defRPr sz="1900" b="0">
                <a:solidFill>
                  <a:srgbClr val="2D2D2D"/>
                </a:solidFill>
                <a:latin typeface="Aptos"/>
              </a:defRPr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Paper leaks are a serious concern in India, but raw paper-leak records are difficult to understand without structured analysis. This project uses Pandas to analyse paper-leak incidents from 2004 to 2026 through data loading, acquisition and filtering, extraction, validation and cleaning, aggregation, analysis, visualization, and results interpretation. It identifies year-wise trends, major areas and exams, leak status, UPA–NDA era differences, affected aspirants, arrests, and convictions to generate meaningful insights.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object 3"/>
          <p:cNvGrpSpPr/>
          <p:nvPr/>
        </p:nvGrpSpPr>
        <p:grpSpPr>
          <a:xfrm>
            <a:off x="2667000" y="0"/>
            <a:ext cx="5103904" cy="1198311"/>
            <a:chOff x="2648188" y="47148"/>
            <a:chExt cx="5103904" cy="1198311"/>
          </a:xfrm>
        </p:grpSpPr>
        <p:pic>
          <p:nvPicPr>
            <p:cNvPr id="5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6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7" name="object 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8" name="object 7"/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pic>
        <p:nvPicPr>
          <p:cNvPr id="17" name="object 3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468880" y="216336"/>
            <a:ext cx="51206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1417320"/>
            <a:ext cx="8778240" cy="56938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Paper leaks are a major concern affecting examinations and students across India.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Paper-leak data contains useful information about incidents, examinations, and their impact.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Raw records may contain missing values, duplicates, and inconsistent information.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Pandas helps load, extract, validate, clean, and organize the dataset.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project analyses paper-leak incidents from 2004 to 2026 using structured data analysis.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Visualizations help identify trends, patterns, and meaningful insights from the analysed data.</a:t>
            </a:r>
          </a:p>
          <a:p>
            <a:pPr algn="l">
              <a:spcAft>
                <a:spcPts val="700"/>
              </a:spcAft>
              <a:defRPr sz="1900" b="0">
                <a:solidFill>
                  <a:srgbClr val="2D2D2D"/>
                </a:solidFill>
                <a:latin typeface="Aptos"/>
              </a:defRPr>
            </a:pP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object 3"/>
          <p:cNvGrpSpPr/>
          <p:nvPr/>
        </p:nvGrpSpPr>
        <p:grpSpPr>
          <a:xfrm>
            <a:off x="2667000" y="85008"/>
            <a:ext cx="5103904" cy="1198311"/>
            <a:chOff x="2648188" y="47148"/>
            <a:chExt cx="5103904" cy="1198311"/>
          </a:xfrm>
        </p:grpSpPr>
        <p:pic>
          <p:nvPicPr>
            <p:cNvPr id="5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6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7" name="object 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8" name="object 7"/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pic>
        <p:nvPicPr>
          <p:cNvPr id="17" name="object 3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667000" y="304800"/>
            <a:ext cx="51816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Current / Manual Approach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1417320"/>
            <a:ext cx="8778240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Paper-leak information is stored in raw CSV records.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Manually checking a large number of records is time-consuming.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Finding year-wise, area-wise, and exam-wise patterns is difficult.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Missing values and inconsistent records may go unnoticed.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Raw data is difficult to understand without proper visualizations.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Manual analysis makes it difficult to identify important trends and patterns.</a:t>
            </a:r>
          </a:p>
          <a:p>
            <a:pPr algn="l">
              <a:spcAft>
                <a:spcPts val="700"/>
              </a:spcAft>
              <a:defRPr sz="1900" b="0">
                <a:solidFill>
                  <a:srgbClr val="2D2D2D"/>
                </a:solidFill>
                <a:latin typeface="Aptos"/>
              </a:defRPr>
            </a:pPr>
            <a:endParaRPr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grpSp>
        <p:nvGrpSpPr>
          <p:cNvPr id="2" name="object 3"/>
          <p:cNvGrpSpPr/>
          <p:nvPr/>
        </p:nvGrpSpPr>
        <p:grpSpPr>
          <a:xfrm>
            <a:off x="2743200" y="0"/>
            <a:ext cx="5103904" cy="1198311"/>
            <a:chOff x="2648188" y="47148"/>
            <a:chExt cx="5103904" cy="1198311"/>
          </a:xfrm>
        </p:grpSpPr>
        <p:pic>
          <p:nvPicPr>
            <p:cNvPr id="3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4" name="object 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5" name="object 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6" name="object 7"/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18" name="TextBox 17"/>
          <p:cNvSpPr txBox="1"/>
          <p:nvPr/>
        </p:nvSpPr>
        <p:spPr>
          <a:xfrm>
            <a:off x="2743200" y="256032"/>
            <a:ext cx="51206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Limitations of Manual Analysis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1325880"/>
            <a:ext cx="8778240" cy="61247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Manual analysis is time-consuming and difficult to manage. 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Large paper-leak datasets are difficult to process manually. 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Missing or inconsistent records can affect analysis accuracy. 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Year-wise and category-wise patterns are difficult to identify manually. 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Trends in arrests, convictions, and affected aspirants are hard to compare. 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Manual processing increases the chance of human errors. 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Limited analysis makes it difficult to obtain meaningful insights.</a:t>
            </a:r>
          </a:p>
          <a:p>
            <a:pPr algn="l">
              <a:spcAft>
                <a:spcPts val="700"/>
              </a:spcAft>
              <a:defRPr sz="1800" b="0">
                <a:solidFill>
                  <a:srgbClr val="2D2D2D"/>
                </a:solidFill>
                <a:latin typeface="Aptos"/>
              </a:defRPr>
            </a:pP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grpSp>
        <p:nvGrpSpPr>
          <p:cNvPr id="3" name="object 3"/>
          <p:cNvGrpSpPr/>
          <p:nvPr/>
        </p:nvGrpSpPr>
        <p:grpSpPr>
          <a:xfrm>
            <a:off x="2743200" y="228600"/>
            <a:ext cx="4997767" cy="1092279"/>
            <a:chOff x="2703195" y="86439"/>
            <a:chExt cx="4997767" cy="1092279"/>
          </a:xfrm>
        </p:grpSpPr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18" name="TextBox 17"/>
          <p:cNvSpPr txBox="1"/>
          <p:nvPr/>
        </p:nvSpPr>
        <p:spPr>
          <a:xfrm>
            <a:off x="2743200" y="374808"/>
            <a:ext cx="51206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Proposed Approach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1234440"/>
            <a:ext cx="8503920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loading and initial exploration 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acquisition and filtering 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extraction and selection 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validation and cleaning 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aggregation and representation 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analysis of trends and patterns 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visualization using bar charts, pie charts, and line charts 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Results interpretation and key insights</a:t>
            </a:r>
          </a:p>
          <a:p>
            <a:pPr marL="457200" indent="-457200" algn="l">
              <a:spcAft>
                <a:spcPts val="700"/>
              </a:spcAft>
              <a:buFont typeface="Arial" panose="020B0604020202020204" pitchFamily="34" charset="0"/>
              <a:buChar char="•"/>
              <a:defRPr sz="1900" b="0">
                <a:solidFill>
                  <a:srgbClr val="2D2D2D"/>
                </a:solidFill>
                <a:latin typeface="Aptos"/>
              </a:defRPr>
            </a:pPr>
            <a:endParaRPr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grpSp>
        <p:nvGrpSpPr>
          <p:cNvPr id="4" name="object 3"/>
          <p:cNvGrpSpPr/>
          <p:nvPr/>
        </p:nvGrpSpPr>
        <p:grpSpPr>
          <a:xfrm>
            <a:off x="2667000" y="85008"/>
            <a:ext cx="5103904" cy="1198311"/>
            <a:chOff x="2648188" y="47148"/>
            <a:chExt cx="5103904" cy="1198311"/>
          </a:xfrm>
        </p:grpSpPr>
        <p:pic>
          <p:nvPicPr>
            <p:cNvPr id="5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6" name="object 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7" name="object 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8" name="object 7"/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18" name="TextBox 17"/>
          <p:cNvSpPr txBox="1"/>
          <p:nvPr/>
        </p:nvSpPr>
        <p:spPr>
          <a:xfrm>
            <a:off x="2722007" y="286489"/>
            <a:ext cx="51206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DATASET DESCRIPTION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2400" y="1143000"/>
            <a:ext cx="9753600" cy="62103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object 3"/>
          <p:cNvGrpSpPr/>
          <p:nvPr/>
        </p:nvGrpSpPr>
        <p:grpSpPr>
          <a:xfrm>
            <a:off x="2819400" y="52623"/>
            <a:ext cx="5103904" cy="1198311"/>
            <a:chOff x="2648188" y="47148"/>
            <a:chExt cx="5103904" cy="1198311"/>
          </a:xfrm>
        </p:grpSpPr>
        <p:pic>
          <p:nvPicPr>
            <p:cNvPr id="5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6" name="object 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7" name="object 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8" name="object 7"/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pic>
        <p:nvPicPr>
          <p:cNvPr id="17" name="object 3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743200" y="256032"/>
            <a:ext cx="51206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REQUIREMENTS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29200" y="1017270"/>
            <a:ext cx="3931920" cy="225552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1026795"/>
            <a:ext cx="3238500" cy="205867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0980" y="3407410"/>
            <a:ext cx="4808220" cy="2339340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80660" y="3518535"/>
            <a:ext cx="4777740" cy="1844040"/>
          </a:xfrm>
          <a:prstGeom prst="rect">
            <a:avLst/>
          </a:prstGeom>
        </p:spPr>
      </p:pic>
      <p:sp>
        <p:nvSpPr>
          <p:cNvPr id="12" name="Text Box 11"/>
          <p:cNvSpPr txBox="1"/>
          <p:nvPr/>
        </p:nvSpPr>
        <p:spPr>
          <a:xfrm>
            <a:off x="762000" y="6248400"/>
            <a:ext cx="7343775" cy="9531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en-US" sz="2800" b="1">
                <a:latin typeface="Times New Roman" panose="02020603050405020304" pitchFamily="18" charset="0"/>
                <a:cs typeface="Times New Roman" panose="02020603050405020304" pitchFamily="18" charset="0"/>
              </a:rPr>
              <a:t>Tools Used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en-US" sz="2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•</a:t>
            </a:r>
            <a:r>
              <a:rPr lang="en-US" altLang="en-US" sz="2800">
                <a:latin typeface="Times New Roman" panose="02020603050405020304" pitchFamily="18" charset="0"/>
                <a:cs typeface="Times New Roman" panose="02020603050405020304" pitchFamily="18" charset="0"/>
              </a:rPr>
              <a:t>Python • Pandas • Matplotlib • Google Colab</a:t>
            </a:r>
            <a:endParaRPr lang="en-US" sz="2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object 3"/>
          <p:cNvGrpSpPr/>
          <p:nvPr/>
        </p:nvGrpSpPr>
        <p:grpSpPr>
          <a:xfrm>
            <a:off x="2590800" y="161097"/>
            <a:ext cx="5103904" cy="1198311"/>
            <a:chOff x="2648188" y="47148"/>
            <a:chExt cx="5103904" cy="1198311"/>
          </a:xfrm>
        </p:grpSpPr>
        <p:pic>
          <p:nvPicPr>
            <p:cNvPr id="6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7" name="object 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8" name="object 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9" name="object 7"/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 sz="2000"/>
            </a:p>
          </p:txBody>
        </p:sp>
      </p:grpSp>
      <p:pic>
        <p:nvPicPr>
          <p:cNvPr id="11" name="object 3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414826" y="437450"/>
            <a:ext cx="51206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METHODOLOGY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253" y="1115220"/>
            <a:ext cx="977083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1 –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Loading &amp; Reading</a:t>
            </a:r>
          </a:p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 required Python libraries.</a:t>
            </a:r>
          </a:p>
          <a:p>
            <a:pPr algn="ctr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Load the paper-leak dataset using Pandas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algn="ctr"/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Arrow: Down 3"/>
          <p:cNvSpPr/>
          <p:nvPr/>
        </p:nvSpPr>
        <p:spPr>
          <a:xfrm>
            <a:off x="4796282" y="2373939"/>
            <a:ext cx="357728" cy="311657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>
              <a:ln w="0">
                <a:solidFill>
                  <a:schemeClr val="tx1"/>
                </a:solidFill>
              </a:ln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959977" y="2609096"/>
            <a:ext cx="5862503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2 – Data Acquisition &amp; Filtering</a:t>
            </a:r>
          </a:p>
          <a:p>
            <a:pPr lvl="0" algn="ctr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Select the required records from the dataset.</a:t>
            </a:r>
          </a:p>
          <a:p>
            <a:pPr lvl="0" algn="ctr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Filter data based on leak status and body type.</a:t>
            </a:r>
          </a:p>
          <a:p>
            <a:pPr algn="ctr"/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Arrow: Down 14"/>
          <p:cNvSpPr/>
          <p:nvPr/>
        </p:nvSpPr>
        <p:spPr>
          <a:xfrm>
            <a:off x="4756604" y="3814644"/>
            <a:ext cx="357728" cy="311657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ln w="0">
                <a:solidFill>
                  <a:schemeClr val="tx1"/>
                </a:solidFill>
              </a:ln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299929" y="4228115"/>
            <a:ext cx="545854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3 – Data Extraction</a:t>
            </a:r>
          </a:p>
          <a:p>
            <a:pPr lvl="0" algn="ctr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Select important columns from the dataset.</a:t>
            </a:r>
          </a:p>
          <a:p>
            <a:pPr lvl="0" algn="ctr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Extract relevant paper-leak information.</a:t>
            </a:r>
          </a:p>
        </p:txBody>
      </p:sp>
      <p:sp>
        <p:nvSpPr>
          <p:cNvPr id="18" name="Arrow: Down 17"/>
          <p:cNvSpPr/>
          <p:nvPr/>
        </p:nvSpPr>
        <p:spPr>
          <a:xfrm>
            <a:off x="4754386" y="5469412"/>
            <a:ext cx="357728" cy="311657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ln w="0">
                <a:solidFill>
                  <a:schemeClr val="tx1"/>
                </a:solidFill>
              </a:ln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2460545" y="5841915"/>
            <a:ext cx="586250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4 – Data Validation &amp; Cleaning</a:t>
            </a:r>
          </a:p>
          <a:p>
            <a:pPr lvl="0" algn="ctr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Check for missing values.</a:t>
            </a:r>
          </a:p>
          <a:p>
            <a:pPr lvl="0" algn="ctr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Validate data types and records.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414826" y="437450"/>
            <a:ext cx="51206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METHODOLOGY</a:t>
            </a:r>
          </a:p>
        </p:txBody>
      </p:sp>
      <p:grpSp>
        <p:nvGrpSpPr>
          <p:cNvPr id="4" name="object 3"/>
          <p:cNvGrpSpPr/>
          <p:nvPr/>
        </p:nvGrpSpPr>
        <p:grpSpPr>
          <a:xfrm>
            <a:off x="2590800" y="161097"/>
            <a:ext cx="5103904" cy="1198311"/>
            <a:chOff x="2648188" y="47148"/>
            <a:chExt cx="5103904" cy="1198311"/>
          </a:xfrm>
        </p:grpSpPr>
        <p:pic>
          <p:nvPicPr>
            <p:cNvPr id="10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21" name="object 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22" name="object 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23" name="object 7"/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 sz="2000"/>
            </a:p>
          </p:txBody>
        </p:sp>
      </p:grpSp>
      <p:sp>
        <p:nvSpPr>
          <p:cNvPr id="25" name="TextBox 24"/>
          <p:cNvSpPr txBox="1"/>
          <p:nvPr/>
        </p:nvSpPr>
        <p:spPr>
          <a:xfrm>
            <a:off x="2586213" y="413290"/>
            <a:ext cx="50292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lang="en-IN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METHODOLOGY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16265" y="953427"/>
            <a:ext cx="665297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5 – Data Aggregation &amp; Representation</a:t>
            </a:r>
          </a:p>
          <a:p>
            <a:pPr lvl="0" algn="ctr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Group the data based on required categories.</a:t>
            </a:r>
          </a:p>
          <a:p>
            <a:pPr lvl="0" algn="ctr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Represent the summarized data in a structured form.</a:t>
            </a:r>
          </a:p>
        </p:txBody>
      </p:sp>
      <p:sp>
        <p:nvSpPr>
          <p:cNvPr id="29" name="Arrow: Down 28"/>
          <p:cNvSpPr/>
          <p:nvPr/>
        </p:nvSpPr>
        <p:spPr>
          <a:xfrm>
            <a:off x="4850336" y="2242125"/>
            <a:ext cx="357728" cy="311657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ln w="0">
                <a:solidFill>
                  <a:schemeClr val="tx1"/>
                </a:solidFill>
              </a:ln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2590800" y="2612335"/>
            <a:ext cx="56388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6 – Data Analysis</a:t>
            </a:r>
          </a:p>
          <a:p>
            <a:pPr lvl="0" algn="ctr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Analyse year-wise paper-leak incidents.</a:t>
            </a:r>
          </a:p>
          <a:p>
            <a:pPr lvl="0" algn="ctr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Identify important patterns and trends.</a:t>
            </a:r>
          </a:p>
        </p:txBody>
      </p:sp>
      <p:sp>
        <p:nvSpPr>
          <p:cNvPr id="33" name="Arrow: Down 32"/>
          <p:cNvSpPr/>
          <p:nvPr/>
        </p:nvSpPr>
        <p:spPr>
          <a:xfrm>
            <a:off x="4850336" y="3959586"/>
            <a:ext cx="357728" cy="311657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ln w="0">
                <a:solidFill>
                  <a:schemeClr val="tx1"/>
                </a:solidFill>
              </a:ln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2628152" y="4271243"/>
            <a:ext cx="50292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7 – Data Visualization</a:t>
            </a:r>
          </a:p>
          <a:p>
            <a:pPr lvl="0" algn="ctr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Create bar charts and pie charts.</a:t>
            </a:r>
          </a:p>
          <a:p>
            <a:pPr lvl="0" algn="ctr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 line charts to show trends.</a:t>
            </a:r>
          </a:p>
        </p:txBody>
      </p:sp>
      <p:sp>
        <p:nvSpPr>
          <p:cNvPr id="37" name="Arrow: Down 36"/>
          <p:cNvSpPr/>
          <p:nvPr/>
        </p:nvSpPr>
        <p:spPr>
          <a:xfrm>
            <a:off x="4850336" y="5576154"/>
            <a:ext cx="357728" cy="311657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ln w="0">
                <a:solidFill>
                  <a:schemeClr val="tx1"/>
                </a:solidFill>
              </a:ln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2675624" y="5946716"/>
            <a:ext cx="639217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8 – Results &amp; Interpretation</a:t>
            </a:r>
          </a:p>
          <a:p>
            <a:pPr lvl="0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Interpret the analysed results.</a:t>
            </a:r>
          </a:p>
          <a:p>
            <a:pPr lvl="0"/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Summarize the key findings and insights.</a:t>
            </a:r>
          </a:p>
        </p:txBody>
      </p:sp>
      <p:pic>
        <p:nvPicPr>
          <p:cNvPr id="11" name="object 3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object 3"/>
          <p:cNvGrpSpPr/>
          <p:nvPr/>
        </p:nvGrpSpPr>
        <p:grpSpPr>
          <a:xfrm>
            <a:off x="2590800" y="161097"/>
            <a:ext cx="5103904" cy="1198311"/>
            <a:chOff x="2648188" y="47148"/>
            <a:chExt cx="5103904" cy="1198311"/>
          </a:xfrm>
        </p:grpSpPr>
        <p:pic>
          <p:nvPicPr>
            <p:cNvPr id="21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22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23" name="object 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24" name="object 7"/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r>
                <a:rPr 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                      </a:t>
              </a:r>
              <a:endParaRPr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25" name="TextBox 24"/>
          <p:cNvSpPr txBox="1"/>
          <p:nvPr/>
        </p:nvSpPr>
        <p:spPr>
          <a:xfrm>
            <a:off x="2468880" y="396841"/>
            <a:ext cx="51206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lang="en-IN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Visualization</a:t>
            </a:r>
            <a:endParaRPr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" y="1143000"/>
            <a:ext cx="9982200" cy="5541645"/>
          </a:xfrm>
          <a:prstGeom prst="rect">
            <a:avLst/>
          </a:prstGeom>
        </p:spPr>
      </p:pic>
      <p:pic>
        <p:nvPicPr>
          <p:cNvPr id="11" name="object 3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object 3"/>
          <p:cNvGrpSpPr/>
          <p:nvPr/>
        </p:nvGrpSpPr>
        <p:grpSpPr>
          <a:xfrm>
            <a:off x="2590800" y="161097"/>
            <a:ext cx="5103904" cy="1198311"/>
            <a:chOff x="2648188" y="47148"/>
            <a:chExt cx="5103904" cy="1198311"/>
          </a:xfrm>
        </p:grpSpPr>
        <p:pic>
          <p:nvPicPr>
            <p:cNvPr id="21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22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23" name="object 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24" name="object 7"/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r>
                <a:rPr 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                      </a:t>
              </a:r>
              <a:endParaRPr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25" name="TextBox 24"/>
          <p:cNvSpPr txBox="1"/>
          <p:nvPr/>
        </p:nvSpPr>
        <p:spPr>
          <a:xfrm>
            <a:off x="2468880" y="396841"/>
            <a:ext cx="51206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lang="en-IN" sz="1800" b="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Visualization</a:t>
            </a:r>
          </a:p>
        </p:txBody>
      </p:sp>
      <p:pic>
        <p:nvPicPr>
          <p:cNvPr id="11" name="object 3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" y="1184910"/>
            <a:ext cx="7806690" cy="507746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object 3"/>
          <p:cNvGrpSpPr/>
          <p:nvPr/>
        </p:nvGrpSpPr>
        <p:grpSpPr>
          <a:xfrm>
            <a:off x="2590800" y="161097"/>
            <a:ext cx="5103904" cy="1198311"/>
            <a:chOff x="2648188" y="47148"/>
            <a:chExt cx="5103904" cy="1198311"/>
          </a:xfrm>
        </p:grpSpPr>
        <p:pic>
          <p:nvPicPr>
            <p:cNvPr id="21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22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23" name="object 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24" name="object 7"/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r>
                <a:rPr 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                      </a:t>
              </a:r>
              <a:endParaRPr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25" name="TextBox 24"/>
          <p:cNvSpPr txBox="1"/>
          <p:nvPr/>
        </p:nvSpPr>
        <p:spPr>
          <a:xfrm>
            <a:off x="2468880" y="396841"/>
            <a:ext cx="51206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lang="en-IN" sz="1800" b="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Visualization</a:t>
            </a:r>
          </a:p>
        </p:txBody>
      </p:sp>
      <p:pic>
        <p:nvPicPr>
          <p:cNvPr id="11" name="object 3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pic>
        <p:nvPicPr>
          <p:cNvPr id="2" name="Picture 1" descr="Screenshot 2026-09-30 07564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92530" y="1493520"/>
            <a:ext cx="7673340" cy="47853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object 3"/>
          <p:cNvGrpSpPr/>
          <p:nvPr/>
        </p:nvGrpSpPr>
        <p:grpSpPr>
          <a:xfrm>
            <a:off x="2590800" y="161097"/>
            <a:ext cx="5103904" cy="1198311"/>
            <a:chOff x="2648188" y="47148"/>
            <a:chExt cx="5103904" cy="1198311"/>
          </a:xfrm>
        </p:grpSpPr>
        <p:pic>
          <p:nvPicPr>
            <p:cNvPr id="21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22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23" name="object 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24" name="object 7"/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r>
                <a:rPr 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                      </a:t>
              </a:r>
              <a:endParaRPr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25" name="TextBox 24"/>
          <p:cNvSpPr txBox="1"/>
          <p:nvPr/>
        </p:nvSpPr>
        <p:spPr>
          <a:xfrm>
            <a:off x="2468880" y="396841"/>
            <a:ext cx="51206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lang="en-IN" sz="1800" b="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Visualization</a:t>
            </a:r>
          </a:p>
        </p:txBody>
      </p:sp>
      <p:pic>
        <p:nvPicPr>
          <p:cNvPr id="11" name="object 3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pic>
        <p:nvPicPr>
          <p:cNvPr id="3" name="Picture 2" descr="Screenshot 2026-09-30 07561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83130" y="1230630"/>
            <a:ext cx="5692140" cy="531114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object 3"/>
          <p:cNvGrpSpPr/>
          <p:nvPr/>
        </p:nvGrpSpPr>
        <p:grpSpPr>
          <a:xfrm>
            <a:off x="2590800" y="161097"/>
            <a:ext cx="5103904" cy="1198311"/>
            <a:chOff x="2648188" y="47148"/>
            <a:chExt cx="5103904" cy="1198311"/>
          </a:xfrm>
        </p:grpSpPr>
        <p:pic>
          <p:nvPicPr>
            <p:cNvPr id="21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22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23" name="object 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24" name="object 7"/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r>
                <a:rPr 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                      </a:t>
              </a:r>
              <a:endParaRPr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25" name="TextBox 24"/>
          <p:cNvSpPr txBox="1"/>
          <p:nvPr/>
        </p:nvSpPr>
        <p:spPr>
          <a:xfrm>
            <a:off x="2468880" y="396841"/>
            <a:ext cx="51206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lang="en-IN" sz="1800" b="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Visualization</a:t>
            </a:r>
          </a:p>
        </p:txBody>
      </p:sp>
      <p:pic>
        <p:nvPicPr>
          <p:cNvPr id="11" name="object 3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" y="1059180"/>
            <a:ext cx="9875520" cy="565404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object 3"/>
          <p:cNvGrpSpPr/>
          <p:nvPr/>
        </p:nvGrpSpPr>
        <p:grpSpPr>
          <a:xfrm>
            <a:off x="2590800" y="161097"/>
            <a:ext cx="5103904" cy="1198311"/>
            <a:chOff x="2648188" y="47148"/>
            <a:chExt cx="5103904" cy="1198311"/>
          </a:xfrm>
        </p:grpSpPr>
        <p:pic>
          <p:nvPicPr>
            <p:cNvPr id="21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22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23" name="object 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24" name="object 7"/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r>
                <a:rPr 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                      </a:t>
              </a:r>
              <a:endParaRPr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25" name="TextBox 24"/>
          <p:cNvSpPr txBox="1"/>
          <p:nvPr/>
        </p:nvSpPr>
        <p:spPr>
          <a:xfrm>
            <a:off x="2468880" y="396841"/>
            <a:ext cx="51206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lang="en-IN" sz="1800" b="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Visualization</a:t>
            </a:r>
          </a:p>
        </p:txBody>
      </p:sp>
      <p:pic>
        <p:nvPicPr>
          <p:cNvPr id="11" name="object 3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240" y="1078230"/>
            <a:ext cx="10027920" cy="561594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object 3"/>
          <p:cNvGrpSpPr/>
          <p:nvPr/>
        </p:nvGrpSpPr>
        <p:grpSpPr>
          <a:xfrm>
            <a:off x="2590800" y="0"/>
            <a:ext cx="5103904" cy="1198311"/>
            <a:chOff x="2648188" y="47148"/>
            <a:chExt cx="5103904" cy="1198311"/>
          </a:xfrm>
        </p:grpSpPr>
        <p:pic>
          <p:nvPicPr>
            <p:cNvPr id="5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6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7" name="object 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8" name="object 7"/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r>
                <a:rPr 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                      </a:t>
              </a:r>
              <a:endParaRPr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9" name="TextBox 8"/>
          <p:cNvSpPr txBox="1"/>
          <p:nvPr/>
        </p:nvSpPr>
        <p:spPr>
          <a:xfrm>
            <a:off x="3429000" y="152400"/>
            <a:ext cx="326599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Key Insights &amp; Analysis</a:t>
            </a:r>
          </a:p>
          <a:p>
            <a:endParaRPr lang="en-US" sz="2400" dirty="0"/>
          </a:p>
        </p:txBody>
      </p:sp>
      <p:sp>
        <p:nvSpPr>
          <p:cNvPr id="10" name="TextBox 9"/>
          <p:cNvSpPr txBox="1"/>
          <p:nvPr/>
        </p:nvSpPr>
        <p:spPr>
          <a:xfrm>
            <a:off x="548640" y="1554480"/>
            <a:ext cx="8976360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Identifies 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year-wise paper-leak trends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highest-case periods.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Finds major 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areas and examinations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associated with reported cases.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Compares 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Confirmed, Alleged, Denied, and Suspected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cases.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Compares paper-leak cases across 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UPA and NDA eras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Analyzes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impact on 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aspirants, arrests, and convictions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Uses charts to clearly present 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patterns, trends, and relationships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285750" indent="-285750">
              <a:spcAft>
                <a:spcPts val="1400"/>
              </a:spcAft>
              <a:buFont typeface="Arial" panose="020B0604020202020204" pitchFamily="34" charset="0"/>
              <a:buChar char="•"/>
            </a:pPr>
            <a:endParaRPr sz="2400" dirty="0">
              <a:solidFill>
                <a:srgbClr val="2D2D2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1" name="object 3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object 3"/>
          <p:cNvGrpSpPr/>
          <p:nvPr/>
        </p:nvGrpSpPr>
        <p:grpSpPr>
          <a:xfrm>
            <a:off x="2477248" y="152400"/>
            <a:ext cx="5103904" cy="1198311"/>
            <a:chOff x="2648188" y="47148"/>
            <a:chExt cx="5103904" cy="1198311"/>
          </a:xfrm>
        </p:grpSpPr>
        <p:pic>
          <p:nvPicPr>
            <p:cNvPr id="8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9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10" name="object 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11" name="object 7"/>
            <p:cNvSpPr/>
            <p:nvPr/>
          </p:nvSpPr>
          <p:spPr>
            <a:xfrm>
              <a:off x="2828925" y="282892"/>
              <a:ext cx="4534295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r>
                <a:rPr lang="en-US" dirty="0"/>
                <a:t>                     </a:t>
              </a:r>
              <a:endParaRPr sz="2800" dirty="0">
                <a:solidFill>
                  <a:schemeClr val="bg1"/>
                </a:solidFill>
              </a:endParaRPr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2477248" y="393846"/>
            <a:ext cx="51206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Workflow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23444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i="1">
                <a:solidFill>
                  <a:srgbClr val="808080"/>
                </a:solidFill>
                <a:latin typeface="Times New Roman" panose="02020603050405020304"/>
              </a:rPr>
              <a:t>From raw data to actionable insights — adapt these stages to your own project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" y="1234440"/>
            <a:ext cx="9775825" cy="3614420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object 3"/>
          <p:cNvGrpSpPr/>
          <p:nvPr/>
        </p:nvGrpSpPr>
        <p:grpSpPr>
          <a:xfrm>
            <a:off x="2477248" y="152400"/>
            <a:ext cx="5103904" cy="1198311"/>
            <a:chOff x="2648188" y="47148"/>
            <a:chExt cx="5103904" cy="1198311"/>
          </a:xfrm>
        </p:grpSpPr>
        <p:pic>
          <p:nvPicPr>
            <p:cNvPr id="8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648188" y="47148"/>
              <a:ext cx="5103904" cy="1198311"/>
            </a:xfrm>
            <a:prstGeom prst="rect">
              <a:avLst/>
            </a:prstGeom>
          </p:spPr>
        </p:pic>
        <p:pic>
          <p:nvPicPr>
            <p:cNvPr id="9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703195" y="86439"/>
              <a:ext cx="4997767" cy="1092279"/>
            </a:xfrm>
            <a:prstGeom prst="rect">
              <a:avLst/>
            </a:prstGeom>
          </p:spPr>
        </p:pic>
        <p:pic>
          <p:nvPicPr>
            <p:cNvPr id="10" name="object 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828925" y="243549"/>
              <a:ext cx="4585268" cy="522565"/>
            </a:xfrm>
            <a:prstGeom prst="rect">
              <a:avLst/>
            </a:prstGeom>
          </p:spPr>
        </p:pic>
        <p:sp>
          <p:nvSpPr>
            <p:cNvPr id="11" name="object 7"/>
            <p:cNvSpPr/>
            <p:nvPr/>
          </p:nvSpPr>
          <p:spPr>
            <a:xfrm>
              <a:off x="2883931" y="282892"/>
              <a:ext cx="4479290" cy="416559"/>
            </a:xfrm>
            <a:custGeom>
              <a:avLst/>
              <a:gdLst/>
              <a:ahLst/>
              <a:cxnLst/>
              <a:rect l="l" t="t" r="r" b="b"/>
              <a:pathLst>
                <a:path w="4479290" h="416559">
                  <a:moveTo>
                    <a:pt x="4394158" y="0"/>
                  </a:moveTo>
                  <a:lnTo>
                    <a:pt x="84972" y="0"/>
                  </a:lnTo>
                  <a:lnTo>
                    <a:pt x="51863" y="5448"/>
                  </a:lnTo>
                  <a:lnTo>
                    <a:pt x="24831" y="20326"/>
                  </a:lnTo>
                  <a:lnTo>
                    <a:pt x="6705" y="42329"/>
                  </a:lnTo>
                  <a:lnTo>
                    <a:pt x="0" y="69361"/>
                  </a:lnTo>
                  <a:lnTo>
                    <a:pt x="0" y="346910"/>
                  </a:lnTo>
                  <a:lnTo>
                    <a:pt x="6705" y="373941"/>
                  </a:lnTo>
                  <a:lnTo>
                    <a:pt x="24831" y="395944"/>
                  </a:lnTo>
                  <a:lnTo>
                    <a:pt x="51863" y="410822"/>
                  </a:lnTo>
                  <a:lnTo>
                    <a:pt x="84972" y="416271"/>
                  </a:lnTo>
                  <a:lnTo>
                    <a:pt x="4394158" y="416271"/>
                  </a:lnTo>
                  <a:lnTo>
                    <a:pt x="4427267" y="410822"/>
                  </a:lnTo>
                  <a:lnTo>
                    <a:pt x="4454299" y="395944"/>
                  </a:lnTo>
                  <a:lnTo>
                    <a:pt x="4472425" y="373941"/>
                  </a:lnTo>
                  <a:lnTo>
                    <a:pt x="4479131" y="346910"/>
                  </a:lnTo>
                  <a:lnTo>
                    <a:pt x="4479131" y="69361"/>
                  </a:lnTo>
                  <a:lnTo>
                    <a:pt x="4472425" y="42329"/>
                  </a:lnTo>
                  <a:lnTo>
                    <a:pt x="4454299" y="20326"/>
                  </a:lnTo>
                  <a:lnTo>
                    <a:pt x="4427267" y="5448"/>
                  </a:lnTo>
                  <a:lnTo>
                    <a:pt x="4394158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3" name="object 3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488870" y="368446"/>
            <a:ext cx="51206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  <a:defRPr sz="2200" b="1">
                <a:solidFill>
                  <a:srgbClr val="233464"/>
                </a:solidFill>
                <a:latin typeface="Aptos"/>
              </a:defRPr>
            </a:pPr>
            <a:r>
              <a:rPr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1463040"/>
            <a:ext cx="8412480" cy="4418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 algn="l">
              <a:spcAft>
                <a:spcPts val="700"/>
              </a:spcAft>
              <a:buFont typeface="Arial" panose="020B0604020202020204" pitchFamily="34" charset="0"/>
              <a:buChar char="•"/>
              <a:defRPr sz="2000" b="0">
                <a:solidFill>
                  <a:srgbClr val="2D2D2D"/>
                </a:solidFill>
                <a:latin typeface="Aptos"/>
              </a:defRPr>
            </a:pPr>
            <a:r>
              <a:rPr lang="en-US" alt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Analyzed Indian paper-leak cases from 2004–2026.</a:t>
            </a:r>
          </a:p>
          <a:p>
            <a:pPr marL="457200" indent="-457200" algn="l">
              <a:spcAft>
                <a:spcPts val="700"/>
              </a:spcAft>
              <a:buFont typeface="Arial" panose="020B0604020202020204" pitchFamily="34" charset="0"/>
              <a:buChar char="•"/>
              <a:defRPr sz="2000" b="0">
                <a:solidFill>
                  <a:srgbClr val="2D2D2D"/>
                </a:solidFill>
                <a:latin typeface="Aptos"/>
              </a:defRPr>
            </a:pPr>
            <a:r>
              <a:rPr lang="en-US" alt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Cleaned and validated the dataset for reliable analysis.</a:t>
            </a:r>
          </a:p>
          <a:p>
            <a:pPr marL="457200" indent="-457200" algn="l">
              <a:spcAft>
                <a:spcPts val="700"/>
              </a:spcAft>
              <a:buFont typeface="Arial" panose="020B0604020202020204" pitchFamily="34" charset="0"/>
              <a:buChar char="•"/>
              <a:defRPr sz="2000" b="0">
                <a:solidFill>
                  <a:srgbClr val="2D2D2D"/>
                </a:solidFill>
                <a:latin typeface="Aptos"/>
              </a:defRPr>
            </a:pPr>
            <a:r>
              <a:rPr lang="en-US" alt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Studied cases by year, area, exam, era, and leak status.</a:t>
            </a:r>
          </a:p>
          <a:p>
            <a:pPr marL="457200" indent="-457200" algn="l">
              <a:spcAft>
                <a:spcPts val="700"/>
              </a:spcAft>
              <a:buFont typeface="Arial" panose="020B0604020202020204" pitchFamily="34" charset="0"/>
              <a:buChar char="•"/>
              <a:defRPr sz="2000" b="0">
                <a:solidFill>
                  <a:srgbClr val="2D2D2D"/>
                </a:solidFill>
                <a:latin typeface="Aptos"/>
              </a:defRPr>
            </a:pPr>
            <a:r>
              <a:rPr lang="en-US" alt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Analyzed the impact through affected aspirants, arrests, and convictions.</a:t>
            </a:r>
          </a:p>
          <a:p>
            <a:pPr marL="457200" indent="-457200" algn="l">
              <a:spcAft>
                <a:spcPts val="700"/>
              </a:spcAft>
              <a:buFont typeface="Arial" panose="020B0604020202020204" pitchFamily="34" charset="0"/>
              <a:buChar char="•"/>
              <a:defRPr sz="2000" b="0">
                <a:solidFill>
                  <a:srgbClr val="2D2D2D"/>
                </a:solidFill>
                <a:latin typeface="Aptos"/>
              </a:defRPr>
            </a:pPr>
            <a:r>
              <a:rPr lang="en-US" alt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Used data visualization to identify and present important patterns and trends clearly</a:t>
            </a:r>
          </a:p>
          <a:p>
            <a:pPr marL="457200" indent="-457200" algn="l">
              <a:spcAft>
                <a:spcPts val="700"/>
              </a:spcAft>
              <a:buFont typeface="Arial" panose="020B0604020202020204" pitchFamily="34" charset="0"/>
              <a:buChar char="•"/>
              <a:defRPr sz="2000" b="0">
                <a:solidFill>
                  <a:srgbClr val="2D2D2D"/>
                </a:solidFill>
                <a:latin typeface="Aptos"/>
              </a:defRPr>
            </a:pPr>
            <a:r>
              <a:rPr lang="en-US" alt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Provides a structured view of paper-leak incidents for better understanding of the data.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0" y="0"/>
            <a:ext cx="10058400" cy="77724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4" name="Freeform: Shape 23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919400" y="0"/>
            <a:ext cx="8219599" cy="77724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39700" sx="102000" sy="102000" algn="ctr" rotWithShape="0">
              <a:schemeClr val="bg1">
                <a:lumMod val="85000"/>
                <a:alpha val="3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25" name="Freeform: Shape 24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925372" y="0"/>
            <a:ext cx="8207655" cy="77724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257302" y="2266230"/>
            <a:ext cx="7543800" cy="31325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 rtl="0">
              <a:lnSpc>
                <a:spcPct val="90000"/>
              </a:lnSpc>
              <a:spcBef>
                <a:spcPct val="0"/>
              </a:spcBef>
              <a:spcAft>
                <a:spcPts val="700"/>
              </a:spcAft>
              <a:defRPr sz="3400" b="1">
                <a:solidFill>
                  <a:srgbClr val="233464"/>
                </a:solidFill>
                <a:latin typeface="Aptos"/>
              </a:defRPr>
            </a:pPr>
            <a:r>
              <a:rPr lang="en-US" sz="3600" kern="1200" dirty="0">
                <a:solidFill>
                  <a:schemeClr val="tx1"/>
                </a:solidFill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THANK YOU</a:t>
            </a:r>
          </a:p>
        </p:txBody>
      </p:sp>
      <p:pic>
        <p:nvPicPr>
          <p:cNvPr id="8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0750" y="204311"/>
            <a:ext cx="1163002" cy="42433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807</Words>
  <Application>Microsoft Office PowerPoint</Application>
  <PresentationFormat>Custom</PresentationFormat>
  <Paragraphs>120</Paragraphs>
  <Slides>21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Arial</vt:lpstr>
      <vt:lpstr>Calibri</vt:lpstr>
      <vt:lpstr>Palatino Linotype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Zeroth Review</dc:title>
  <dc:creator>RESHMA BASAPATHI</dc:creator>
  <cp:lastModifiedBy>Md Aarish</cp:lastModifiedBy>
  <cp:revision>118</cp:revision>
  <cp:lastPrinted>2025-10-14T18:21:00Z</cp:lastPrinted>
  <dcterms:created xsi:type="dcterms:W3CDTF">2025-10-10T08:28:00Z</dcterms:created>
  <dcterms:modified xsi:type="dcterms:W3CDTF">2026-09-30T10:30:03Z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2025-09-13T09:00:00Z</vt:filetime>
  </property>
  <property fmtid="{D5CDD505-2E9C-101B-9397-08002B2CF9AE}" pid="3" name="LastSaved">
    <vt:filetime>2025-10-11T09:00:00Z</vt:filetime>
  </property>
  <property fmtid="{D5CDD505-2E9C-101B-9397-08002B2CF9AE}" pid="4" name="ICV">
    <vt:lpwstr>8903C069B4FA4EC992003EA29088D30C_12</vt:lpwstr>
  </property>
  <property fmtid="{D5CDD505-2E9C-101B-9397-08002B2CF9AE}" pid="5" name="KSOProductBuildVer">
    <vt:lpwstr>1033-12.1.0.28485</vt:lpwstr>
  </property>
</Properties>
</file>