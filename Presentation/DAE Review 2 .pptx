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58" r:id="rId5"/>
    <p:sldId id="259" r:id="rId6"/>
    <p:sldId id="274" r:id="rId7"/>
    <p:sldId id="279" r:id="rId8"/>
    <p:sldId id="276" r:id="rId9"/>
    <p:sldId id="280" r:id="rId10"/>
    <p:sldId id="278" r:id="rId11"/>
    <p:sldId id="271" r:id="rId13"/>
    <p:sldId id="281" r:id="rId14"/>
    <p:sldId id="283" r:id="rId15"/>
    <p:sldId id="286" r:id="rId16"/>
    <p:sldId id="287" r:id="rId17"/>
    <p:sldId id="288" r:id="rId18"/>
    <p:sldId id="289" r:id="rId19"/>
    <p:sldId id="290" r:id="rId20"/>
    <p:sldId id="285" r:id="rId21"/>
    <p:sldId id="284" r:id="rId22"/>
    <p:sldId id="268" r:id="rId23"/>
    <p:sldId id="269" r:id="rId24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21" autoAdjust="0"/>
    <p:restoredTop sz="94660"/>
  </p:normalViewPr>
  <p:slideViewPr>
    <p:cSldViewPr showGuides="1">
      <p:cViewPr>
        <p:scale>
          <a:sx n="73" d="100"/>
          <a:sy n="73" d="100"/>
        </p:scale>
        <p:origin x="1853" y="-120"/>
      </p:cViewPr>
      <p:guideLst>
        <p:guide orient="horz" pos="2880"/>
        <p:guide pos="216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97538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19B0A-DB98-47ED-A0D2-B47FD394FE07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2163" y="971550"/>
            <a:ext cx="3394075" cy="26225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6475" y="3740150"/>
            <a:ext cx="8045450" cy="3060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97538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471F2-2083-493A-8C9E-53209FFA1EC8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48056" y="258722"/>
            <a:ext cx="4601366" cy="70479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0316" y="125730"/>
            <a:ext cx="4997767" cy="10451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63904" y="251407"/>
            <a:ext cx="4577410" cy="50684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718911" y="290750"/>
            <a:ext cx="4471670" cy="400685"/>
          </a:xfrm>
          <a:custGeom>
            <a:avLst/>
            <a:gdLst/>
            <a:ahLst/>
            <a:cxnLst/>
            <a:rect l="l" t="t" r="r" b="b"/>
            <a:pathLst>
              <a:path w="4471670" h="400684">
                <a:moveTo>
                  <a:pt x="4386510" y="0"/>
                </a:moveTo>
                <a:lnTo>
                  <a:pt x="84762" y="0"/>
                </a:lnTo>
                <a:lnTo>
                  <a:pt x="51758" y="5238"/>
                </a:lnTo>
                <a:lnTo>
                  <a:pt x="24831" y="19592"/>
                </a:lnTo>
                <a:lnTo>
                  <a:pt x="6705" y="40757"/>
                </a:lnTo>
                <a:lnTo>
                  <a:pt x="0" y="66741"/>
                </a:lnTo>
                <a:lnTo>
                  <a:pt x="0" y="333813"/>
                </a:lnTo>
                <a:lnTo>
                  <a:pt x="6705" y="359797"/>
                </a:lnTo>
                <a:lnTo>
                  <a:pt x="24831" y="381066"/>
                </a:lnTo>
                <a:lnTo>
                  <a:pt x="51758" y="395316"/>
                </a:lnTo>
                <a:lnTo>
                  <a:pt x="84762" y="400554"/>
                </a:lnTo>
                <a:lnTo>
                  <a:pt x="4386510" y="400554"/>
                </a:lnTo>
                <a:lnTo>
                  <a:pt x="4419514" y="395316"/>
                </a:lnTo>
                <a:lnTo>
                  <a:pt x="4446441" y="381066"/>
                </a:lnTo>
                <a:lnTo>
                  <a:pt x="4464567" y="359797"/>
                </a:lnTo>
                <a:lnTo>
                  <a:pt x="4471273" y="333813"/>
                </a:lnTo>
                <a:lnTo>
                  <a:pt x="4471273" y="66741"/>
                </a:lnTo>
                <a:lnTo>
                  <a:pt x="4464567" y="40757"/>
                </a:lnTo>
                <a:lnTo>
                  <a:pt x="4446441" y="19592"/>
                </a:lnTo>
                <a:lnTo>
                  <a:pt x="4419514" y="5238"/>
                </a:lnTo>
                <a:lnTo>
                  <a:pt x="438651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92554" y="282840"/>
            <a:ext cx="3375117" cy="56971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0970" y="881554"/>
            <a:ext cx="2528570" cy="375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1188" y="1409149"/>
            <a:ext cx="8949055" cy="3294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8.png"/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8.png"/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3.png"/><Relationship Id="rId7" Type="http://schemas.openxmlformats.org/officeDocument/2006/relationships/image" Target="../media/image12.png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14.pn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20.pn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jpeg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693969" y="211046"/>
            <a:ext cx="4610910" cy="6286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1051560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233464"/>
                </a:solidFill>
                <a:latin typeface="Aptos"/>
              </a:defRPr>
            </a:pP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Essentials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63040" y="1508760"/>
            <a:ext cx="73152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300" b="1">
                <a:solidFill>
                  <a:srgbClr val="C25B30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Cornerstone Project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8778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233464"/>
                </a:solidFill>
                <a:latin typeface="Aptos"/>
              </a:defRPr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Indian Paper Leaks Data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(2004-2026)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51560" y="3657600"/>
            <a:ext cx="7955279" cy="2386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  <a:endParaRPr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.Vedha Sri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5B11CS659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 Aarish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5B11CS588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 .Harsha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5B11CS389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 .Rishita Bhargavi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5B11CS987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Guide: Mr. K. Ashok Teja, Assistant Professor, CSE Dept.</a:t>
            </a:r>
            <a:endParaRPr sz="1600" b="1" dirty="0" err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644652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5" name="object 3"/>
          <p:cNvGrpSpPr/>
          <p:nvPr/>
        </p:nvGrpSpPr>
        <p:grpSpPr>
          <a:xfrm>
            <a:off x="2438400" y="33670"/>
            <a:ext cx="5334000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545080" y="269414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219200" y="1676400"/>
            <a:ext cx="7132320" cy="5052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Problem Understanding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Introduction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Current Approach &amp; Limitations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Proposed Approach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Dataset Description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Requirements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Methodology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 Visualization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Key Insights &amp; Analysis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Implementation Workflow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Conclusion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667000" y="53695"/>
            <a:ext cx="5103904" cy="1198311"/>
            <a:chOff x="2648188" y="47148"/>
            <a:chExt cx="5103904" cy="1198311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0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67000" y="304800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UNDERSTANDING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9600" y="1524000"/>
            <a:ext cx="86868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 leaks are a serious concern in India, but raw paper-leak records are difficult to understand without structured analysis. This project uses Pandas to analyse paper-leak incidents from 2004 to 2026 through data loading, acquisition and filtering, extraction, validation and cleaning, aggregation, analysis, visualization, and results interpretation. It identifies year-wise trends, major areas and exams, leak status, UPA–NDA era differences, affected aspirants, arrests, and convictions to generate meaningful insights.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/>
          <p:cNvGrpSpPr/>
          <p:nvPr/>
        </p:nvGrpSpPr>
        <p:grpSpPr>
          <a:xfrm>
            <a:off x="2667000" y="0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1633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5800" y="1417320"/>
            <a:ext cx="877824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 leaks are a major concern affecting examinations and students across India.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Paper-leak data contains useful information about incidents, examinations, and their impact.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records may contain missing values, duplicates, and inconsistent information.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helps load, extract, validate, clean, and organize the dataset.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analyses paper-leak incidents from 2004 to 2026 using structured data analysis.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 help identify trends, patterns, and meaningful insights from the analysed data.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67000" y="304800"/>
            <a:ext cx="5181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 / Manual Approach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5800" y="1417320"/>
            <a:ext cx="877824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Paper-leak information is stored in raw CSV records.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Manually checking a large number of records is time-consuming.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 year-wise, area-wise, and exam-wise patterns is difficult.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 and inconsistent records may go unnoticed.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data is difficult to understand without proper visualizations.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analysis makes it difficult to identify important trends and patterns.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743200" y="0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256032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 of Manual Analysis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5800" y="1325880"/>
            <a:ext cx="877824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analysis is time-consuming and difficult to manage.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paper-leak datasets are difficult to process manually.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or inconsistent records can affect analysis accuracy.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Year-wise and category-wise patterns are difficult to identify manually.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Trends in arrests, convictions, and affected aspirants are hard to compare.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processing increases the chance of human errors.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analysis makes it difficult to obtain meaningful insights.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2743200" y="228600"/>
            <a:ext cx="4997767" cy="1092279"/>
            <a:chOff x="2703195" y="86439"/>
            <a:chExt cx="4997767" cy="1092279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374808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Approach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240" y="1234440"/>
            <a:ext cx="850392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loading and initial exploration 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acquisition and filtering 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extraction and selection 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validation and cleaning 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aggregation and representation 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of trends and patterns 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using bar charts, pie charts, and line charts 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interpretation and key insights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4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22007" y="286489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" y="1143000"/>
            <a:ext cx="9753600" cy="62103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/>
          <p:cNvGrpSpPr/>
          <p:nvPr/>
        </p:nvGrpSpPr>
        <p:grpSpPr>
          <a:xfrm>
            <a:off x="2819400" y="52623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256032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REQUIREMENTS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017270"/>
            <a:ext cx="3931920" cy="22555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026795"/>
            <a:ext cx="3238500" cy="205867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980" y="3407410"/>
            <a:ext cx="4808220" cy="233934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0660" y="3518535"/>
            <a:ext cx="4777740" cy="1844040"/>
          </a:xfrm>
          <a:prstGeom prst="rect">
            <a:avLst/>
          </a:prstGeom>
        </p:spPr>
      </p:pic>
      <p:sp>
        <p:nvSpPr>
          <p:cNvPr id="12" name="Text Box 11"/>
          <p:cNvSpPr txBox="1"/>
          <p:nvPr/>
        </p:nvSpPr>
        <p:spPr>
          <a:xfrm>
            <a:off x="762000" y="6248400"/>
            <a:ext cx="7343775" cy="9531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  <a:endParaRPr lang="en-US" altLang="en-US" sz="2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US" sz="2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•</a:t>
            </a:r>
            <a:r>
              <a:rPr lang="en-US" alt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Python • Pandas • Matplotlib • Google Colab</a:t>
            </a:r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pic>
        <p:nvPicPr>
          <p:cNvPr id="11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2253" y="1115220"/>
            <a:ext cx="97708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 –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Loading &amp; Reading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 required Python libraries.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 the paper-leak dataset using Pandas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rrow: Down 3"/>
          <p:cNvSpPr/>
          <p:nvPr/>
        </p:nvSpPr>
        <p:spPr>
          <a:xfrm>
            <a:off x="4796282" y="2373939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959977" y="2609096"/>
            <a:ext cx="586250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Data Acquisition &amp; Filtering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the required records from the dataset.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data based on leak status and body type.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Arrow: Down 14"/>
          <p:cNvSpPr/>
          <p:nvPr/>
        </p:nvSpPr>
        <p:spPr>
          <a:xfrm>
            <a:off x="4756604" y="3814644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299929" y="4228115"/>
            <a:ext cx="54585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 – Data Extraction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important columns from the dataset.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relevant paper-leak information.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Arrow: Down 17"/>
          <p:cNvSpPr/>
          <p:nvPr/>
        </p:nvSpPr>
        <p:spPr>
          <a:xfrm>
            <a:off x="4754386" y="5469412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60545" y="5841915"/>
            <a:ext cx="58625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 – Data Validation &amp; Cleaning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for missing values.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data types and records.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10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1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2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3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586213" y="41329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IN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816265" y="953427"/>
            <a:ext cx="66529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 – Data Aggregation &amp; Representation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the data based on required categories.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 the summarized data in a structured form.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Arrow: Down 28"/>
          <p:cNvSpPr/>
          <p:nvPr/>
        </p:nvSpPr>
        <p:spPr>
          <a:xfrm>
            <a:off x="4850336" y="2242125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590800" y="2612335"/>
            <a:ext cx="5638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6 – Data Analysis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Analyse year-wise paper-leak incidents.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important patterns and trends.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Arrow: Down 32"/>
          <p:cNvSpPr/>
          <p:nvPr/>
        </p:nvSpPr>
        <p:spPr>
          <a:xfrm>
            <a:off x="4850336" y="3959586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628152" y="4271243"/>
            <a:ext cx="5029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7 – Data Visualization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bar charts and pie charts.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line charts to show trends.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Arrow: Down 36"/>
          <p:cNvSpPr/>
          <p:nvPr/>
        </p:nvSpPr>
        <p:spPr>
          <a:xfrm>
            <a:off x="4850336" y="5576154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675624" y="5946716"/>
            <a:ext cx="63921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8 – Results &amp; Interpretation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 the analysed results.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Summarize the key findings and insights.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1143000"/>
            <a:ext cx="9982200" cy="5541645"/>
          </a:xfrm>
          <a:prstGeom prst="rect">
            <a:avLst/>
          </a:prstGeom>
        </p:spPr>
      </p:pic>
      <p:pic>
        <p:nvPicPr>
          <p:cNvPr id="11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1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endParaRPr lang="en-IN" sz="1800" b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1184910"/>
            <a:ext cx="7806690" cy="50774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1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endParaRPr lang="en-IN" sz="1800" b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pic>
        <p:nvPicPr>
          <p:cNvPr id="2" name="Picture 1" descr="Screenshot 2026-09-30 07564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2530" y="1493520"/>
            <a:ext cx="7673340" cy="4785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1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endParaRPr lang="en-IN" sz="1800" b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pic>
        <p:nvPicPr>
          <p:cNvPr id="3" name="Picture 2" descr="Screenshot 2026-09-30 0756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1230630"/>
            <a:ext cx="5692140" cy="53111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1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endParaRPr lang="en-IN" sz="1800" b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" y="1059180"/>
            <a:ext cx="9875520" cy="5654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1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endParaRPr lang="en-IN" sz="1800" b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" y="1078230"/>
            <a:ext cx="10027920" cy="56159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/>
          <p:cNvGrpSpPr/>
          <p:nvPr/>
        </p:nvGrpSpPr>
        <p:grpSpPr>
          <a:xfrm>
            <a:off x="2590800" y="0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3429000" y="152400"/>
            <a:ext cx="32659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&amp; Analysis</a:t>
            </a:r>
            <a:endParaRPr lang="en-IN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897636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year-wise paper-leak trends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highest-case periods. 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Finds major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and examinations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associated with reported cases. 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Confirmed, Alleged, Denied, and Suspected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cases. 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Compares paper-leak cases across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UPA and NDA eras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impact on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aspirants, arrests, and convictions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charts to clearly present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patterns, trends, and relationships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endParaRPr sz="2400" dirty="0">
              <a:solidFill>
                <a:srgbClr val="2D2D2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/>
            <p:cNvSpPr/>
            <p:nvPr/>
          </p:nvSpPr>
          <p:spPr>
            <a:xfrm>
              <a:off x="2828925" y="282892"/>
              <a:ext cx="4534295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/>
                <a:t>                     </a:t>
              </a:r>
              <a:endParaRPr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77248" y="3938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Workflow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11480" y="12344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808080"/>
                </a:solidFill>
                <a:latin typeface="Times New Roman" panose="02020603050405020304"/>
              </a:rPr>
              <a:t>From raw data to actionable insights — adapt these stages to your own project</a:t>
            </a:r>
            <a:endParaRPr sz="1300" i="1">
              <a:solidFill>
                <a:srgbClr val="808080"/>
              </a:solidFill>
              <a:latin typeface="Times New Roman" panose="02020603050405020304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1234440"/>
            <a:ext cx="9775825" cy="361442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88870" y="3684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77240" y="1463040"/>
            <a:ext cx="8412480" cy="4418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Analyzed Indian paper-leak cases from 2004–2026.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Cleaned and validated the dataset for reliable analysis.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Studied cases by year, area, exam, era, and leak status.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Analyzed the impact through affected aspirants, arrests, and convictions.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data visualization to identify and present important patterns and trends clearly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structured view of paper-leak incidents for better understanding of the data.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0058400" cy="777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919400" y="0"/>
            <a:ext cx="8219599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925372" y="0"/>
            <a:ext cx="8207655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57302" y="2266230"/>
            <a:ext cx="7543800" cy="3132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700"/>
              </a:spcAft>
              <a:defRPr sz="3400" b="1">
                <a:solidFill>
                  <a:srgbClr val="233464"/>
                </a:solidFill>
                <a:latin typeface="Aptos"/>
              </a:defRPr>
            </a:pPr>
            <a:r>
              <a:rPr lang="en-US" sz="3600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THANK YOU</a:t>
            </a:r>
            <a:endParaRPr lang="en-US" sz="3600" kern="1200" dirty="0">
              <a:solidFill>
                <a:schemeClr val="tx1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8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5003</Words>
  <Application>WPS Presentation</Application>
  <PresentationFormat>Custom</PresentationFormat>
  <Paragraphs>177</Paragraphs>
  <Slides>21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4" baseType="lpstr">
      <vt:lpstr>Arial</vt:lpstr>
      <vt:lpstr>SimSun</vt:lpstr>
      <vt:lpstr>Wingdings</vt:lpstr>
      <vt:lpstr>Palatino Linotype</vt:lpstr>
      <vt:lpstr>Aptos</vt:lpstr>
      <vt:lpstr>Segoe UI</vt:lpstr>
      <vt:lpstr>Times New Roman</vt:lpstr>
      <vt:lpstr>Microsoft YaHei</vt:lpstr>
      <vt:lpstr>Arial Unicode MS</vt:lpstr>
      <vt:lpstr>Calibri</vt:lpstr>
      <vt:lpstr>Times New Roman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Zeroth Review</dc:title>
  <dc:creator>RESHMA BASAPATHI</dc:creator>
  <cp:lastModifiedBy>Vedha sri Nammi</cp:lastModifiedBy>
  <cp:revision>117</cp:revision>
  <cp:lastPrinted>2025-10-14T18:21:00Z</cp:lastPrinted>
  <dcterms:created xsi:type="dcterms:W3CDTF">2025-10-10T08:28:00Z</dcterms:created>
  <dcterms:modified xsi:type="dcterms:W3CDTF">2026-09-30T05:00:12Z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2025-09-13T09:00:00Z</vt:filetime>
  </property>
  <property fmtid="{D5CDD505-2E9C-101B-9397-08002B2CF9AE}" pid="3" name="LastSaved">
    <vt:filetime>2025-10-11T09:00:00Z</vt:filetime>
  </property>
  <property fmtid="{D5CDD505-2E9C-101B-9397-08002B2CF9AE}" pid="4" name="ICV">
    <vt:lpwstr>8903C069B4FA4EC992003EA29088D30C_12</vt:lpwstr>
  </property>
  <property fmtid="{D5CDD505-2E9C-101B-9397-08002B2CF9AE}" pid="5" name="KSOProductBuildVer">
    <vt:lpwstr>1033-12.1.0.28485</vt:lpwstr>
  </property>
</Properties>
</file>